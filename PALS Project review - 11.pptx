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67" r:id="rId4"/>
    <p:sldId id="258" r:id="rId5"/>
    <p:sldId id="266" r:id="rId6"/>
    <p:sldId id="259" r:id="rId7"/>
    <p:sldId id="268" r:id="rId8"/>
    <p:sldId id="260" r:id="rId9"/>
    <p:sldId id="269" r:id="rId10"/>
    <p:sldId id="261" r:id="rId11"/>
    <p:sldId id="270" r:id="rId12"/>
    <p:sldId id="262" r:id="rId13"/>
    <p:sldId id="271" r:id="rId14"/>
    <p:sldId id="263" r:id="rId15"/>
    <p:sldId id="265" r:id="rId16"/>
    <p:sldId id="272" r:id="rId17"/>
    <p:sldId id="273" r:id="rId18"/>
    <p:sldId id="274" r:id="rId19"/>
    <p:sldId id="276" r:id="rId20"/>
    <p:sldId id="26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808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40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743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286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305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09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635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29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353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112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646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361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0642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1043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955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287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278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10BB9B9-92FC-4C05-A67B-0C3CC5DA163B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790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FF360-4907-F96C-FC2F-688A610CC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9305" y="-108428"/>
            <a:ext cx="8574622" cy="2271525"/>
          </a:xfrm>
        </p:spPr>
        <p:txBody>
          <a:bodyPr>
            <a:normAutofit/>
          </a:bodyPr>
          <a:lstStyle/>
          <a:p>
            <a:pPr algn="just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Wave-Based Computation Using Dynamic Liquid Media and Quantum Simulation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368B2-734C-0B04-CB58-50FF51EEF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68126" y="2344448"/>
            <a:ext cx="6987645" cy="1388534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Minds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Dr. S. Mohamed Nizar(AP)ECE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Technology(RIT)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Akash 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Harish Ganapathy 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Ramya </a:t>
            </a: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28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4AE8-8340-BDAF-543A-58EC3D4A7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Completed (Week 11)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6F559-93D1-3C4B-D4F7-A7C536F47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7961" y="952498"/>
            <a:ext cx="9870869" cy="5497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Activities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Generated and organized QRNG sensor data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Prepared the dataset for randomness testing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Converted generated values into a binary sequence for NIST testing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Configured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NIST Statistical Test Suite (STS)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WSL Ubuntu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Successfully compiled and executed the NIST STS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Tested the generated bitstream using multiple statistical tests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Obtained individual P-values and SUCCESS/FAILURE results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500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AADAE6-C1A5-9343-EF7B-BFC4FD12A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028" y="1099458"/>
            <a:ext cx="8795657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589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3ED-1B98-5224-2708-D6CC23382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298" y="115529"/>
            <a:ext cx="10018713" cy="1093839"/>
          </a:xfrm>
        </p:spPr>
        <p:txBody>
          <a:bodyPr/>
          <a:lstStyle/>
          <a:p>
            <a:r>
              <a:rPr lang="en-IN" dirty="0"/>
              <a:t>QRNG Dataset Preparation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C650C7-8E10-18A8-F644-431091E96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6469" y="1866899"/>
            <a:ext cx="10018713" cy="3124201"/>
          </a:xfrm>
        </p:spPr>
        <p:txBody>
          <a:bodyPr>
            <a:noAutofit/>
          </a:bodyPr>
          <a:lstStyle/>
          <a:p>
            <a:pPr>
              <a:buNone/>
            </a:pPr>
            <a:endParaRPr lang="en-IN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Structure</a:t>
            </a:r>
          </a:p>
          <a:p>
            <a:pPr>
              <a:buNone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generated QRNG dataset contains: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 sensor readings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record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readings collected from the wave-based setup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representation generated from the sensor measurements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organized in CSV format for further processing </a:t>
            </a:r>
          </a:p>
          <a:p>
            <a:pPr>
              <a:buNone/>
            </a:pPr>
            <a:r>
              <a:rPr lang="en-IN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Flow</a:t>
            </a:r>
          </a:p>
          <a:p>
            <a:pPr algn="ctr">
              <a:buNone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Readings</a:t>
            </a:r>
          </a:p>
          <a:p>
            <a:pPr algn="ctr">
              <a:buNone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>
              <a:buNone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pPr algn="ctr">
              <a:buNone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>
              <a:buNone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Dataset</a:t>
            </a:r>
          </a:p>
          <a:p>
            <a:pPr algn="ctr">
              <a:buNone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>
              <a:buNone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Conversion</a:t>
            </a:r>
          </a:p>
          <a:p>
            <a:pPr algn="ctr">
              <a:buNone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>
              <a:buNone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NIST Input</a:t>
            </a:r>
          </a:p>
          <a:p>
            <a:pPr>
              <a:buNone/>
            </a:pP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buNone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transform the physical sensor measurements into a binary sequence suitable for statistical randomness testing.</a:t>
            </a: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155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BA5391-117E-118B-29B1-6A72AC2C5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087" y="979714"/>
            <a:ext cx="9993084" cy="494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275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7E038-FBBC-CCB2-783E-11BDB2F64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0285" y="159774"/>
            <a:ext cx="10018713" cy="90702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dirty="0"/>
              <a:t>NIST STS Configuration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1283DF45-7A1A-BB81-B886-CD2FA1D5C8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0720376"/>
              </p:ext>
            </p:extLst>
          </p:nvPr>
        </p:nvGraphicFramePr>
        <p:xfrm>
          <a:off x="1720286" y="2545488"/>
          <a:ext cx="10018712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09356">
                  <a:extLst>
                    <a:ext uri="{9D8B030D-6E8A-4147-A177-3AD203B41FA5}">
                      <a16:colId xmlns:a16="http://schemas.microsoft.com/office/drawing/2014/main" val="261672944"/>
                    </a:ext>
                  </a:extLst>
                </a:gridCol>
                <a:gridCol w="5009356">
                  <a:extLst>
                    <a:ext uri="{9D8B030D-6E8A-4147-A177-3AD203B41FA5}">
                      <a16:colId xmlns:a16="http://schemas.microsoft.com/office/drawing/2014/main" val="22703403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3976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Testing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NIST STS 2.1.2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3932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WSL Ubuntu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8299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QRNG-generated bitstream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007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Bitstreams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2890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Sequence 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1,000,000 bits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586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Significance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α = 0.01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002303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CD49C5-EE41-E38F-5B96-4E7A0D19BB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146572"/>
              </p:ext>
            </p:extLst>
          </p:nvPr>
        </p:nvGraphicFramePr>
        <p:xfrm>
          <a:off x="1484313" y="2667000"/>
          <a:ext cx="10018712" cy="2560320"/>
        </p:xfrm>
        <a:graphic>
          <a:graphicData uri="http://schemas.openxmlformats.org/drawingml/2006/table">
            <a:tbl>
              <a:tblPr/>
              <a:tblGrid>
                <a:gridCol w="5009356">
                  <a:extLst>
                    <a:ext uri="{9D8B030D-6E8A-4147-A177-3AD203B41FA5}">
                      <a16:colId xmlns:a16="http://schemas.microsoft.com/office/drawing/2014/main" val="959337399"/>
                    </a:ext>
                  </a:extLst>
                </a:gridCol>
                <a:gridCol w="5009356">
                  <a:extLst>
                    <a:ext uri="{9D8B030D-6E8A-4147-A177-3AD203B41FA5}">
                      <a16:colId xmlns:a16="http://schemas.microsoft.com/office/drawing/2014/main" val="19178265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107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52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5096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667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059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426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48978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D91C782-CFC2-4D8A-450A-60581AD5F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800662"/>
              </p:ext>
            </p:extLst>
          </p:nvPr>
        </p:nvGraphicFramePr>
        <p:xfrm>
          <a:off x="2173288" y="2976270"/>
          <a:ext cx="10018712" cy="2560320"/>
        </p:xfrm>
        <a:graphic>
          <a:graphicData uri="http://schemas.openxmlformats.org/drawingml/2006/table">
            <a:tbl>
              <a:tblPr/>
              <a:tblGrid>
                <a:gridCol w="5009356">
                  <a:extLst>
                    <a:ext uri="{9D8B030D-6E8A-4147-A177-3AD203B41FA5}">
                      <a16:colId xmlns:a16="http://schemas.microsoft.com/office/drawing/2014/main" val="2908838738"/>
                    </a:ext>
                  </a:extLst>
                </a:gridCol>
                <a:gridCol w="5009356">
                  <a:extLst>
                    <a:ext uri="{9D8B030D-6E8A-4147-A177-3AD203B41FA5}">
                      <a16:colId xmlns:a16="http://schemas.microsoft.com/office/drawing/2014/main" val="2472963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940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557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890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34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154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538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20890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53EF05E-5978-A741-5A6C-F519F34994F4}"/>
              </a:ext>
            </a:extLst>
          </p:cNvPr>
          <p:cNvSpPr txBox="1"/>
          <p:nvPr/>
        </p:nvSpPr>
        <p:spPr>
          <a:xfrm>
            <a:off x="1642497" y="1068160"/>
            <a:ext cx="61504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NIST Statistical Test Suite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NIST SP 800-22 Statistical Test Suite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configured to evaluate the randomness of the generated bitstream.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Configuration:</a:t>
            </a:r>
          </a:p>
        </p:txBody>
      </p:sp>
    </p:spTree>
    <p:extLst>
      <p:ext uri="{BB962C8B-B14F-4D97-AF65-F5344CB8AC3E}">
        <p14:creationId xmlns:p14="http://schemas.microsoft.com/office/powerpoint/2010/main" val="3855230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C36749-9A70-6C19-855F-90DF31219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344" y="674914"/>
            <a:ext cx="9535886" cy="571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641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0BB6A-78D1-0296-642B-31E926918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617" y="-70055"/>
            <a:ext cx="10018713" cy="518650"/>
          </a:xfrm>
        </p:spPr>
        <p:txBody>
          <a:bodyPr>
            <a:normAutofit fontScale="90000"/>
          </a:bodyPr>
          <a:lstStyle/>
          <a:p>
            <a:r>
              <a:rPr lang="en-IN" dirty="0"/>
              <a:t>NIST Test Execution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67D1B6-1B3B-751E-2395-2B279E3BF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9768" y="2076011"/>
            <a:ext cx="3372464" cy="3183195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NIST Execution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NIST STS assessment was successfully executed using the generated QRNG bitstream.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Process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QRNG Bitstream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NIST STS Input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Tests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P-Value Calculation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/ FAILURE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NIST Results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NIST framework successfully processed the input sequence and generated statistical P-values for the selected tests.</a:t>
            </a:r>
          </a:p>
          <a:p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105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E3B221-BFCD-875D-6DB1-C078E43C1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914" y="1088572"/>
            <a:ext cx="9274629" cy="470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884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95FA1-65C7-2E2C-89C9-166FF45B3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775" y="312175"/>
            <a:ext cx="10018713" cy="582561"/>
          </a:xfrm>
        </p:spPr>
        <p:txBody>
          <a:bodyPr>
            <a:normAutofit fontScale="90000"/>
          </a:bodyPr>
          <a:lstStyle/>
          <a:p>
            <a:r>
              <a:rPr lang="en-IN" dirty="0"/>
              <a:t>NIST P-Value Results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9972B9-26CE-A2A1-F386-779AE2E9D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570507"/>
              </p:ext>
            </p:extLst>
          </p:nvPr>
        </p:nvGraphicFramePr>
        <p:xfrm>
          <a:off x="1643742" y="2180540"/>
          <a:ext cx="7779681" cy="31280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93227">
                  <a:extLst>
                    <a:ext uri="{9D8B030D-6E8A-4147-A177-3AD203B41FA5}">
                      <a16:colId xmlns:a16="http://schemas.microsoft.com/office/drawing/2014/main" val="80703799"/>
                    </a:ext>
                  </a:extLst>
                </a:gridCol>
                <a:gridCol w="2593227">
                  <a:extLst>
                    <a:ext uri="{9D8B030D-6E8A-4147-A177-3AD203B41FA5}">
                      <a16:colId xmlns:a16="http://schemas.microsoft.com/office/drawing/2014/main" val="1273025980"/>
                    </a:ext>
                  </a:extLst>
                </a:gridCol>
                <a:gridCol w="2593227">
                  <a:extLst>
                    <a:ext uri="{9D8B030D-6E8A-4147-A177-3AD203B41FA5}">
                      <a16:colId xmlns:a16="http://schemas.microsoft.com/office/drawing/2014/main" val="1602941380"/>
                    </a:ext>
                  </a:extLst>
                </a:gridCol>
              </a:tblGrid>
              <a:tr h="284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Test/Template Result</a:t>
                      </a:r>
                    </a:p>
                  </a:txBody>
                  <a:tcPr marL="71005" marR="71005" marT="35502" marB="35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P-value</a:t>
                      </a:r>
                    </a:p>
                  </a:txBody>
                  <a:tcPr marL="71005" marR="71005" marT="35502" marB="35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Status</a:t>
                      </a:r>
                    </a:p>
                  </a:txBody>
                  <a:tcPr marL="71005" marR="71005" marT="35502" marB="35502" anchor="ctr"/>
                </a:tc>
                <a:extLst>
                  <a:ext uri="{0D108BD9-81ED-4DB2-BD59-A6C34878D82A}">
                    <a16:rowId xmlns:a16="http://schemas.microsoft.com/office/drawing/2014/main" val="1699787628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Template</a:t>
                      </a:r>
                    </a:p>
                  </a:txBody>
                  <a:tcPr marL="71005" marR="71005" marT="35502" marB="35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0.315084</a:t>
                      </a:r>
                    </a:p>
                  </a:txBody>
                  <a:tcPr marL="71005" marR="71005" marT="35502" marB="35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SUCCESS</a:t>
                      </a:r>
                    </a:p>
                  </a:txBody>
                  <a:tcPr marL="71005" marR="71005" marT="35502" marB="35502" anchor="ctr"/>
                </a:tc>
                <a:extLst>
                  <a:ext uri="{0D108BD9-81ED-4DB2-BD59-A6C34878D82A}">
                    <a16:rowId xmlns:a16="http://schemas.microsoft.com/office/drawing/2014/main" val="2692819522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Template</a:t>
                      </a:r>
                    </a:p>
                  </a:txBody>
                  <a:tcPr marL="71005" marR="71005" marT="35502" marB="35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0.740030</a:t>
                      </a:r>
                    </a:p>
                  </a:txBody>
                  <a:tcPr marL="71005" marR="71005" marT="35502" marB="35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SUCCESS</a:t>
                      </a:r>
                    </a:p>
                  </a:txBody>
                  <a:tcPr marL="71005" marR="71005" marT="35502" marB="35502" anchor="ctr"/>
                </a:tc>
                <a:extLst>
                  <a:ext uri="{0D108BD9-81ED-4DB2-BD59-A6C34878D82A}">
                    <a16:rowId xmlns:a16="http://schemas.microsoft.com/office/drawing/2014/main" val="3737159183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Template</a:t>
                      </a:r>
                    </a:p>
                  </a:txBody>
                  <a:tcPr marL="71005" marR="71005" marT="35502" marB="35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0.975209</a:t>
                      </a:r>
                    </a:p>
                  </a:txBody>
                  <a:tcPr marL="71005" marR="71005" marT="35502" marB="35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SUCCESS</a:t>
                      </a:r>
                    </a:p>
                  </a:txBody>
                  <a:tcPr marL="71005" marR="71005" marT="35502" marB="35502" anchor="ctr"/>
                </a:tc>
                <a:extLst>
                  <a:ext uri="{0D108BD9-81ED-4DB2-BD59-A6C34878D82A}">
                    <a16:rowId xmlns:a16="http://schemas.microsoft.com/office/drawing/2014/main" val="1060372112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Template</a:t>
                      </a:r>
                    </a:p>
                  </a:txBody>
                  <a:tcPr marL="71005" marR="71005" marT="35502" marB="35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0.664232</a:t>
                      </a:r>
                    </a:p>
                  </a:txBody>
                  <a:tcPr marL="71005" marR="71005" marT="35502" marB="35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SUCCESS</a:t>
                      </a:r>
                    </a:p>
                  </a:txBody>
                  <a:tcPr marL="71005" marR="71005" marT="35502" marB="35502" anchor="ctr"/>
                </a:tc>
                <a:extLst>
                  <a:ext uri="{0D108BD9-81ED-4DB2-BD59-A6C34878D82A}">
                    <a16:rowId xmlns:a16="http://schemas.microsoft.com/office/drawing/2014/main" val="1706463731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Template</a:t>
                      </a:r>
                    </a:p>
                  </a:txBody>
                  <a:tcPr marL="71005" marR="71005" marT="35502" marB="35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0.852222</a:t>
                      </a:r>
                    </a:p>
                  </a:txBody>
                  <a:tcPr marL="71005" marR="71005" marT="35502" marB="35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SUCCESS</a:t>
                      </a:r>
                    </a:p>
                  </a:txBody>
                  <a:tcPr marL="71005" marR="71005" marT="35502" marB="35502" anchor="ctr"/>
                </a:tc>
                <a:extLst>
                  <a:ext uri="{0D108BD9-81ED-4DB2-BD59-A6C34878D82A}">
                    <a16:rowId xmlns:a16="http://schemas.microsoft.com/office/drawing/2014/main" val="2490464567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Template</a:t>
                      </a:r>
                    </a:p>
                  </a:txBody>
                  <a:tcPr marL="71005" marR="71005" marT="35502" marB="35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0.015071</a:t>
                      </a:r>
                    </a:p>
                  </a:txBody>
                  <a:tcPr marL="71005" marR="71005" marT="35502" marB="35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SUCCESS</a:t>
                      </a:r>
                    </a:p>
                  </a:txBody>
                  <a:tcPr marL="71005" marR="71005" marT="35502" marB="35502" anchor="ctr"/>
                </a:tc>
                <a:extLst>
                  <a:ext uri="{0D108BD9-81ED-4DB2-BD59-A6C34878D82A}">
                    <a16:rowId xmlns:a16="http://schemas.microsoft.com/office/drawing/2014/main" val="2562761536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Template</a:t>
                      </a:r>
                    </a:p>
                  </a:txBody>
                  <a:tcPr marL="71005" marR="71005" marT="35502" marB="35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0.009413</a:t>
                      </a:r>
                    </a:p>
                  </a:txBody>
                  <a:tcPr marL="71005" marR="71005" marT="35502" marB="35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FAILURE</a:t>
                      </a:r>
                    </a:p>
                  </a:txBody>
                  <a:tcPr marL="71005" marR="71005" marT="35502" marB="35502" anchor="ctr"/>
                </a:tc>
                <a:extLst>
                  <a:ext uri="{0D108BD9-81ED-4DB2-BD59-A6C34878D82A}">
                    <a16:rowId xmlns:a16="http://schemas.microsoft.com/office/drawing/2014/main" val="713511709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Template</a:t>
                      </a:r>
                    </a:p>
                  </a:txBody>
                  <a:tcPr marL="71005" marR="71005" marT="35502" marB="35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0.028558</a:t>
                      </a:r>
                    </a:p>
                  </a:txBody>
                  <a:tcPr marL="71005" marR="71005" marT="35502" marB="35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SUCCESS</a:t>
                      </a:r>
                    </a:p>
                  </a:txBody>
                  <a:tcPr marL="71005" marR="71005" marT="35502" marB="35502" anchor="ctr"/>
                </a:tc>
                <a:extLst>
                  <a:ext uri="{0D108BD9-81ED-4DB2-BD59-A6C34878D82A}">
                    <a16:rowId xmlns:a16="http://schemas.microsoft.com/office/drawing/2014/main" val="4037187439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Template</a:t>
                      </a:r>
                    </a:p>
                  </a:txBody>
                  <a:tcPr marL="71005" marR="71005" marT="35502" marB="35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0.001066</a:t>
                      </a:r>
                    </a:p>
                  </a:txBody>
                  <a:tcPr marL="71005" marR="71005" marT="35502" marB="35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FAILURE</a:t>
                      </a:r>
                    </a:p>
                  </a:txBody>
                  <a:tcPr marL="71005" marR="71005" marT="35502" marB="35502" anchor="ctr"/>
                </a:tc>
                <a:extLst>
                  <a:ext uri="{0D108BD9-81ED-4DB2-BD59-A6C34878D82A}">
                    <a16:rowId xmlns:a16="http://schemas.microsoft.com/office/drawing/2014/main" val="3948452732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Template</a:t>
                      </a:r>
                    </a:p>
                  </a:txBody>
                  <a:tcPr marL="71005" marR="71005" marT="35502" marB="35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0.142500</a:t>
                      </a:r>
                    </a:p>
                  </a:txBody>
                  <a:tcPr marL="71005" marR="71005" marT="35502" marB="35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SUCCESS</a:t>
                      </a:r>
                    </a:p>
                  </a:txBody>
                  <a:tcPr marL="71005" marR="71005" marT="35502" marB="35502" anchor="ctr"/>
                </a:tc>
                <a:extLst>
                  <a:ext uri="{0D108BD9-81ED-4DB2-BD59-A6C34878D82A}">
                    <a16:rowId xmlns:a16="http://schemas.microsoft.com/office/drawing/2014/main" val="416048829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F16F7E0-45FA-1AE6-CC90-2D788C898E63}"/>
              </a:ext>
            </a:extLst>
          </p:cNvPr>
          <p:cNvSpPr txBox="1"/>
          <p:nvPr/>
        </p:nvSpPr>
        <p:spPr>
          <a:xfrm>
            <a:off x="1643742" y="651388"/>
            <a:ext cx="6096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P-Values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NIST tests generated P-values for evaluating the randomness of the QRNG sequence.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obtained results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Level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 = 0.01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P-value ≥ 0.01 →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P-value &lt; 0.01 →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048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D4D6A4-EDE1-779D-5361-7BC0FF752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43" y="631371"/>
            <a:ext cx="9818913" cy="556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974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7EB03-471D-023A-92FE-5885289A5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292" y="213852"/>
            <a:ext cx="10018713" cy="1005348"/>
          </a:xfrm>
        </p:spPr>
        <p:txBody>
          <a:bodyPr/>
          <a:lstStyle/>
          <a:p>
            <a:r>
              <a:rPr lang="en-IN" dirty="0"/>
              <a:t>Non-Overlapping Template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4A470F-1A2A-91FD-D706-A464168AE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508" y="2193470"/>
            <a:ext cx="10018713" cy="31242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Observation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Non-Overlapping Template test evaluates the occurrence of multiple predefined binary patterns within the sequence.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Results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examples: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0.315084  → SUCCESS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0.740030  → SUCCESS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0.975209  → SUCCESS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0.852222  → SUCCESS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0.638847  → SUCCESS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0.905744  → SUCCESS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failures: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0.009413  → FAILURE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0.001066  → FAILURE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presence of a small number of P-values below α = 0.01 does not by itself establish that the complete QRNG system has failed NIST evaluation. The overall NIST assessment should also consider the test-level summary and statistical criteria.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614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BA15F9-1B18-ADB3-193B-0FE05F74F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229" y="707572"/>
            <a:ext cx="10319657" cy="573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200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EEDE2-261D-D3DE-CFC0-6B08C8E6F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775" y="243348"/>
            <a:ext cx="10018713" cy="739877"/>
          </a:xfrm>
        </p:spPr>
        <p:txBody>
          <a:bodyPr/>
          <a:lstStyle/>
          <a:p>
            <a:r>
              <a:rPr lang="en-IN" dirty="0"/>
              <a:t>Current NIST Testing Status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78465-38B4-3DE5-B997-426623C53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4078" y="1248698"/>
            <a:ext cx="10018713" cy="474898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NIST STS successfully evaluated the generated QRNG bitstream and produced statistical results.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number of individual template results were below the α = 0.01 threshold and require consideration in the overall assessment.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0BB8D2-6199-8F39-594D-7D7263CD8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111790"/>
              </p:ext>
            </p:extLst>
          </p:nvPr>
        </p:nvGraphicFramePr>
        <p:xfrm>
          <a:off x="1961175" y="983225"/>
          <a:ext cx="9508500" cy="31241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250">
                  <a:extLst>
                    <a:ext uri="{9D8B030D-6E8A-4147-A177-3AD203B41FA5}">
                      <a16:colId xmlns:a16="http://schemas.microsoft.com/office/drawing/2014/main" val="2292620035"/>
                    </a:ext>
                  </a:extLst>
                </a:gridCol>
                <a:gridCol w="4754250">
                  <a:extLst>
                    <a:ext uri="{9D8B030D-6E8A-4147-A177-3AD203B41FA5}">
                      <a16:colId xmlns:a16="http://schemas.microsoft.com/office/drawing/2014/main" val="2727885072"/>
                    </a:ext>
                  </a:extLst>
                </a:gridCol>
              </a:tblGrid>
              <a:tr h="347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Activity</a:t>
                      </a:r>
                    </a:p>
                  </a:txBody>
                  <a:tcPr marL="86783" marR="86783" marT="43392" marB="43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Status</a:t>
                      </a:r>
                    </a:p>
                  </a:txBody>
                  <a:tcPr marL="86783" marR="86783" marT="43392" marB="43392" anchor="ctr"/>
                </a:tc>
                <a:extLst>
                  <a:ext uri="{0D108BD9-81ED-4DB2-BD59-A6C34878D82A}">
                    <a16:rowId xmlns:a16="http://schemas.microsoft.com/office/drawing/2014/main" val="2202741718"/>
                  </a:ext>
                </a:extLst>
              </a:tr>
              <a:tr h="347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QRNG dataset generation</a:t>
                      </a:r>
                    </a:p>
                  </a:txBody>
                  <a:tcPr marL="86783" marR="86783" marT="43392" marB="43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✅ Completed</a:t>
                      </a:r>
                    </a:p>
                  </a:txBody>
                  <a:tcPr marL="86783" marR="86783" marT="43392" marB="43392" anchor="ctr"/>
                </a:tc>
                <a:extLst>
                  <a:ext uri="{0D108BD9-81ED-4DB2-BD59-A6C34878D82A}">
                    <a16:rowId xmlns:a16="http://schemas.microsoft.com/office/drawing/2014/main" val="114538795"/>
                  </a:ext>
                </a:extLst>
              </a:tr>
              <a:tr h="347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Binary sequence preparation</a:t>
                      </a:r>
                    </a:p>
                  </a:txBody>
                  <a:tcPr marL="86783" marR="86783" marT="43392" marB="43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✅ Completed</a:t>
                      </a:r>
                    </a:p>
                  </a:txBody>
                  <a:tcPr marL="86783" marR="86783" marT="43392" marB="43392" anchor="ctr"/>
                </a:tc>
                <a:extLst>
                  <a:ext uri="{0D108BD9-81ED-4DB2-BD59-A6C34878D82A}">
                    <a16:rowId xmlns:a16="http://schemas.microsoft.com/office/drawing/2014/main" val="959318282"/>
                  </a:ext>
                </a:extLst>
              </a:tr>
              <a:tr h="347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NIST STS setup</a:t>
                      </a:r>
                    </a:p>
                  </a:txBody>
                  <a:tcPr marL="86783" marR="86783" marT="43392" marB="43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✅ Completed</a:t>
                      </a:r>
                    </a:p>
                  </a:txBody>
                  <a:tcPr marL="86783" marR="86783" marT="43392" marB="43392" anchor="ctr"/>
                </a:tc>
                <a:extLst>
                  <a:ext uri="{0D108BD9-81ED-4DB2-BD59-A6C34878D82A}">
                    <a16:rowId xmlns:a16="http://schemas.microsoft.com/office/drawing/2014/main" val="1563841219"/>
                  </a:ext>
                </a:extLst>
              </a:tr>
              <a:tr h="347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NIST compilation</a:t>
                      </a:r>
                    </a:p>
                  </a:txBody>
                  <a:tcPr marL="86783" marR="86783" marT="43392" marB="43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✅ Completed</a:t>
                      </a:r>
                    </a:p>
                  </a:txBody>
                  <a:tcPr marL="86783" marR="86783" marT="43392" marB="43392" anchor="ctr"/>
                </a:tc>
                <a:extLst>
                  <a:ext uri="{0D108BD9-81ED-4DB2-BD59-A6C34878D82A}">
                    <a16:rowId xmlns:a16="http://schemas.microsoft.com/office/drawing/2014/main" val="171415599"/>
                  </a:ext>
                </a:extLst>
              </a:tr>
              <a:tr h="347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NIST execution</a:t>
                      </a:r>
                    </a:p>
                  </a:txBody>
                  <a:tcPr marL="86783" marR="86783" marT="43392" marB="43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✅ Completed</a:t>
                      </a:r>
                    </a:p>
                  </a:txBody>
                  <a:tcPr marL="86783" marR="86783" marT="43392" marB="43392" anchor="ctr"/>
                </a:tc>
                <a:extLst>
                  <a:ext uri="{0D108BD9-81ED-4DB2-BD59-A6C34878D82A}">
                    <a16:rowId xmlns:a16="http://schemas.microsoft.com/office/drawing/2014/main" val="213744085"/>
                  </a:ext>
                </a:extLst>
              </a:tr>
              <a:tr h="347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P-value generation</a:t>
                      </a:r>
                    </a:p>
                  </a:txBody>
                  <a:tcPr marL="86783" marR="86783" marT="43392" marB="43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✅ Completed</a:t>
                      </a:r>
                    </a:p>
                  </a:txBody>
                  <a:tcPr marL="86783" marR="86783" marT="43392" marB="43392" anchor="ctr"/>
                </a:tc>
                <a:extLst>
                  <a:ext uri="{0D108BD9-81ED-4DB2-BD59-A6C34878D82A}">
                    <a16:rowId xmlns:a16="http://schemas.microsoft.com/office/drawing/2014/main" val="4100269020"/>
                  </a:ext>
                </a:extLst>
              </a:tr>
              <a:tr h="347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Individual result analysis</a:t>
                      </a:r>
                    </a:p>
                  </a:txBody>
                  <a:tcPr marL="86783" marR="86783" marT="43392" marB="43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✅ Completed</a:t>
                      </a:r>
                    </a:p>
                  </a:txBody>
                  <a:tcPr marL="86783" marR="86783" marT="43392" marB="43392" anchor="ctr"/>
                </a:tc>
                <a:extLst>
                  <a:ext uri="{0D108BD9-81ED-4DB2-BD59-A6C34878D82A}">
                    <a16:rowId xmlns:a16="http://schemas.microsoft.com/office/drawing/2014/main" val="2735026549"/>
                  </a:ext>
                </a:extLst>
              </a:tr>
              <a:tr h="347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Overall NIST interpretation</a:t>
                      </a:r>
                    </a:p>
                  </a:txBody>
                  <a:tcPr marL="86783" marR="86783" marT="43392" marB="43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🔄 Under analysis</a:t>
                      </a:r>
                    </a:p>
                  </a:txBody>
                  <a:tcPr marL="86783" marR="86783" marT="43392" marB="43392" anchor="ctr"/>
                </a:tc>
                <a:extLst>
                  <a:ext uri="{0D108BD9-81ED-4DB2-BD59-A6C34878D82A}">
                    <a16:rowId xmlns:a16="http://schemas.microsoft.com/office/drawing/2014/main" val="571010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557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82D3D-9969-AD6B-8AB3-D8B53D0F3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Problems / Observations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8861C-038E-FB38-6E3F-328F4C784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1703" y="2133599"/>
            <a:ext cx="9398920" cy="312420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Binary Data Validation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initial dataset required verification to ensure that the binary sequence was represented correctly.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Individual Low P-values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Non-Overlapping Template results were below the significance level: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0.009413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0.001066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Overall Interpretation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failures should not be interpreted independently as a complete QRNG failure.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NIST summary and overall statistical criteria need to be considered.</a:t>
            </a:r>
          </a:p>
        </p:txBody>
      </p:sp>
    </p:spTree>
    <p:extLst>
      <p:ext uri="{BB962C8B-B14F-4D97-AF65-F5344CB8AC3E}">
        <p14:creationId xmlns:p14="http://schemas.microsoft.com/office/powerpoint/2010/main" val="2405350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79F07B-F595-CF51-EE77-E81C09FFB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657" y="653143"/>
            <a:ext cx="9829799" cy="604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119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2E59F-84C2-0CED-83CC-8D88F402F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B80EA-94E7-0FA5-0043-43F6FB9F1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425" y="0"/>
            <a:ext cx="10018713" cy="1752599"/>
          </a:xfrm>
        </p:spPr>
        <p:txBody>
          <a:bodyPr/>
          <a:lstStyle/>
          <a:p>
            <a:r>
              <a:rPr lang="en-IN" dirty="0"/>
              <a:t>Work Planned for Next Week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A1B87-63B3-354D-C19C-0F01C1D4E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1703" y="2133599"/>
            <a:ext cx="9398920" cy="31242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</a:p>
          <a:p>
            <a:pPr marL="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QRNG Data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the complete binary sequence.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correct bitstream formatting.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the input before further NIST testing. </a:t>
            </a:r>
          </a:p>
          <a:p>
            <a:pPr marL="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NIST Analysis</a:t>
            </a:r>
          </a:p>
          <a:p>
            <a:pPr lvl="0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complete NIST summary results.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P-value distributions.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test-level pass proportions.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tests requiring further investigation.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the final randomness assessment. </a:t>
            </a:r>
          </a:p>
          <a:p>
            <a:pPr marL="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Development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integration of sensor data processing.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QRNG data-generation pipeline.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hardware–software integration.</a:t>
            </a:r>
          </a:p>
        </p:txBody>
      </p:sp>
    </p:spTree>
    <p:extLst>
      <p:ext uri="{BB962C8B-B14F-4D97-AF65-F5344CB8AC3E}">
        <p14:creationId xmlns:p14="http://schemas.microsoft.com/office/powerpoint/2010/main" val="3264921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844DD-E7C9-9468-DDC0-32864F63A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98A43-14C4-8A87-9C72-637A09E62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425" y="0"/>
            <a:ext cx="10018713" cy="1752599"/>
          </a:xfrm>
        </p:spPr>
        <p:txBody>
          <a:bodyPr/>
          <a:lstStyle/>
          <a:p>
            <a:r>
              <a:rPr lang="en-IN" dirty="0"/>
              <a:t>Weekly Outcome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A460C-62BA-63E8-4DC7-4232F92C5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1703" y="2133599"/>
            <a:ext cx="9398920" cy="31242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Week's Achievement</a:t>
            </a:r>
          </a:p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🟢 QRNG dataset preparation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🟢 Binary sequence preparation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🟢 NIST STS setup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🟢 NIST STS compilation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🟢 NIST test execution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🟢 P-value generation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🟢 Initial statistical analysis</a:t>
            </a:r>
          </a:p>
        </p:txBody>
      </p:sp>
    </p:spTree>
    <p:extLst>
      <p:ext uri="{BB962C8B-B14F-4D97-AF65-F5344CB8AC3E}">
        <p14:creationId xmlns:p14="http://schemas.microsoft.com/office/powerpoint/2010/main" val="1144306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7B441E1-6DCC-6780-46EE-6094BCF8FC0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64570" y="500743"/>
            <a:ext cx="4894262" cy="6019801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676D820-8E97-397E-0B3C-E0A55D497E1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59207" y="587827"/>
            <a:ext cx="4675594" cy="601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641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s://tse4.mm.bing.net/th/id/OIP.CdCtJ49L39lo4WWvqLAfRAHaHa?pid=Api&amp;P=0&amp;h=180">
            <a:extLst>
              <a:ext uri="{FF2B5EF4-FFF2-40B4-BE49-F238E27FC236}">
                <a16:creationId xmlns:a16="http://schemas.microsoft.com/office/drawing/2014/main" id="{83667167-C60D-3A25-CDF6-A64F87177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006" y="2244213"/>
            <a:ext cx="3913240" cy="2327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72971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106</TotalTime>
  <Words>746</Words>
  <Application>Microsoft Office PowerPoint</Application>
  <PresentationFormat>Widescreen</PresentationFormat>
  <Paragraphs>204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Corbel</vt:lpstr>
      <vt:lpstr>Times New Roman</vt:lpstr>
      <vt:lpstr>Parallax</vt:lpstr>
      <vt:lpstr>Project Title: Wave-Based Computation Using Dynamic Liquid Media and Quantum Simulation</vt:lpstr>
      <vt:lpstr>Work Completed (Week 11)</vt:lpstr>
      <vt:lpstr>PowerPoint Presentation</vt:lpstr>
      <vt:lpstr>QRNG Dataset Preparation</vt:lpstr>
      <vt:lpstr>PowerPoint Presentation</vt:lpstr>
      <vt:lpstr>RNIST STS Configuration</vt:lpstr>
      <vt:lpstr>PowerPoint Presentation</vt:lpstr>
      <vt:lpstr>NIST Test Execution</vt:lpstr>
      <vt:lpstr>PowerPoint Presentation</vt:lpstr>
      <vt:lpstr>NIST P-Value Results</vt:lpstr>
      <vt:lpstr>PowerPoint Presentation</vt:lpstr>
      <vt:lpstr>Non-Overlapping Template Analysis</vt:lpstr>
      <vt:lpstr>PowerPoint Presentation</vt:lpstr>
      <vt:lpstr>Current NIST Testing Status</vt:lpstr>
      <vt:lpstr>Problems / Observations</vt:lpstr>
      <vt:lpstr>PowerPoint Presentation</vt:lpstr>
      <vt:lpstr>Work Planned for Next Week</vt:lpstr>
      <vt:lpstr>Weekly Outcome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ramyasenthilkumar0407@gmail.com</dc:creator>
  <cp:lastModifiedBy>delllaptop5400@hotmail.com</cp:lastModifiedBy>
  <cp:revision>4</cp:revision>
  <dcterms:created xsi:type="dcterms:W3CDTF">2026-07-12T23:52:48Z</dcterms:created>
  <dcterms:modified xsi:type="dcterms:W3CDTF">2026-09-06T16:44:46Z</dcterms:modified>
</cp:coreProperties>
</file>